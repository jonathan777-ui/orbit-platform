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 client / month</c:v>
                </c:pt>
              </c:strCache>
            </c:strRef>
          </c:tx>
          <c:spPr>
            <a:solidFill>
              <a:srgbClr val="3CE9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AEEF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CE9F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26C9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CFF9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Client pays</c:v>
                  </c:pt>
                  <c:pt idx="1">
                    <c:v>Your cost</c:v>
                  </c:pt>
                  <c:pt idx="2">
                    <c:v>You keep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297</c:v>
                </c:pt>
                <c:pt idx="1">
                  <c:v>78</c:v>
                </c:pt>
                <c:pt idx="2">
                  <c:v>219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EAEEF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7A1C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0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7A1CE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4060F"/>
        </a:solidFill>
        <a:ln>
          <a:noFill/>
        </a:ln>
        <a:effectLst/>
      </c:spPr>
    </c:plotArea>
    <c:plotVisOnly val="1"/>
    <c:dispBlanksAs val="span"/>
  </c:chart>
  <c:spPr>
    <a:solidFill>
      <a:srgbClr val="04060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914400"/>
            <a:ext cx="4754880" cy="4754880"/>
          </a:xfrm>
          <a:prstGeom prst="ellipse">
            <a:avLst/>
          </a:prstGeom>
          <a:solidFill>
            <a:srgbClr val="9D6BFF">
              <a:alpha val="0"/>
            </a:srgbClr>
          </a:solidFill>
          <a:ln w="19050">
            <a:solidFill>
              <a:srgbClr val="9D6B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2011680"/>
            <a:ext cx="2926080" cy="2926080"/>
          </a:xfrm>
          <a:prstGeom prst="ellipse">
            <a:avLst/>
          </a:prstGeom>
          <a:solidFill>
            <a:srgbClr val="3CE9FF">
              <a:alpha val="0"/>
            </a:srgbClr>
          </a:solidFill>
          <a:ln w="19050">
            <a:solidFill>
              <a:srgbClr val="3CE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2788920"/>
            <a:ext cx="310896" cy="310896"/>
          </a:xfrm>
          <a:prstGeom prst="ellipse">
            <a:avLst/>
          </a:prstGeom>
          <a:solidFill>
            <a:srgbClr val="3CE9FF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0" y="1417320"/>
            <a:ext cx="164592" cy="164592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ORBIT AI AUTOMATION · PARTNER PROGRAM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Become the AI front desk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clients keep asking for.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bilingual voice, websites &amp; CRM. </a:t>
            </a:r>
            <a:pPr indent="0" marL="0">
              <a:buNone/>
            </a:pPr>
            <a:r>
              <a:rPr lang="en-US" sz="1800" b="1" dirty="0">
                <a:solidFill>
                  <a:srgbClr val="3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client — we run the rails.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6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program overview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 YOUR CLIENTS CAN'T SEE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day, your clients bleed revenue out four holes.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331720"/>
            <a:ext cx="566928" cy="566928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836" y="245644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3017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Missed calls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96112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Ring, voicemail, gone. The caller dials the next business.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47288" y="20574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03320" y="2331720"/>
            <a:ext cx="566928" cy="566928"/>
          </a:xfrm>
          <a:prstGeom prst="ellipse">
            <a:avLst/>
          </a:prstGeom>
          <a:solidFill>
            <a:srgbClr val="9D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044" y="245644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3017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Invisible online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703320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site, or one that doesn't convert the click into a call.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54496" y="20574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10528" y="2331720"/>
            <a:ext cx="566928" cy="566928"/>
          </a:xfrm>
          <a:prstGeom prst="ellipse">
            <a:avLst/>
          </a:prstGeom>
          <a:solidFill>
            <a:srgbClr val="FFCF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252" y="245644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10528" y="3017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Leads slip away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10528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Inquiries with no follow-up fall straight through the cracks.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61704" y="2057400"/>
            <a:ext cx="2606040" cy="2331720"/>
          </a:xfrm>
          <a:prstGeom prst="roundRect">
            <a:avLst>
              <a:gd name="adj" fmla="val 3529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317736" y="2331720"/>
            <a:ext cx="566928" cy="566928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2460" y="245644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17736" y="30175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 spend wasted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317736" y="342900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clicks land on a dead end and never become customers.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800600"/>
            <a:ext cx="10908792" cy="1417320"/>
          </a:xfrm>
          <a:prstGeom prst="roundRect">
            <a:avLst>
              <a:gd name="adj" fmla="val 5806"/>
            </a:avLst>
          </a:prstGeom>
          <a:solidFill>
            <a:srgbClr val="121A33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05840" y="5029200"/>
            <a:ext cx="5852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CE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19.2%</a:t>
            </a:r>
            <a:pPr indent="0" marL="0">
              <a:buNone/>
            </a:pPr>
            <a:r>
              <a:rPr lang="en-US" sz="160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of inbound calls missed at one practice</a:t>
            </a:r>
            <a:endParaRPr lang="en-US" sz="4000" dirty="0"/>
          </a:p>
        </p:txBody>
      </p:sp>
      <p:sp>
        <p:nvSpPr>
          <p:cNvPr id="26" name="Text 20"/>
          <p:cNvSpPr/>
          <p:nvPr/>
        </p:nvSpPr>
        <p:spPr>
          <a:xfrm>
            <a:off x="6400800" y="50292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CFF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$401K</a:t>
            </a:r>
            <a:pPr indent="0" marL="0">
              <a:buNone/>
            </a:pPr>
            <a:r>
              <a:rPr lang="en-US" sz="160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recovered in a single quarter</a:t>
            </a:r>
            <a:endParaRPr lang="en-US" sz="4000" dirty="0"/>
          </a:p>
        </p:txBody>
      </p:sp>
      <p:sp>
        <p:nvSpPr>
          <p:cNvPr id="27" name="Text 21"/>
          <p:cNvSpPr/>
          <p:nvPr/>
        </p:nvSpPr>
        <p:spPr>
          <a:xfrm>
            <a:off x="64008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Industry figure (Newo.ai / Image Orthodontics) — illustrative of the missed-call leak.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OPPORTUNITY FOR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2026, AI phone coverage isn't an upsell — it's table stakes.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60320"/>
            <a:ext cx="658368" cy="658368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961" y="2705161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2900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Clients expect it now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60120" y="402336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They've seen AI answer calls elsewhere and they're asking who does theirs.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52544" y="21945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72584" y="2560320"/>
            <a:ext cx="658368" cy="658368"/>
          </a:xfrm>
          <a:prstGeom prst="ellipse">
            <a:avLst/>
          </a:prstGeom>
          <a:solidFill>
            <a:srgbClr val="9D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425" y="2705161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72584" y="342900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new recurring line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672584" y="402336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High-margin monthly revenue that compounds across your whole book.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65008" y="2194560"/>
            <a:ext cx="3456432" cy="3108960"/>
          </a:xfrm>
          <a:prstGeom prst="roundRect">
            <a:avLst>
              <a:gd name="adj" fmla="val 2647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85048" y="2560320"/>
            <a:ext cx="658368" cy="658368"/>
          </a:xfrm>
          <a:prstGeom prst="ellipse">
            <a:avLst/>
          </a:prstGeom>
          <a:solidFill>
            <a:srgbClr val="FFCF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889" y="2705161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85048" y="3429000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Keeps you essential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385048" y="4023360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Agencies that don't offer it lose the account to one that does.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YOU'D BE SELLING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stack. All four leaks sealed.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441448"/>
            <a:ext cx="640080" cy="640080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582266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414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 AI Receptionist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737360" y="2898648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every call in EN or ES, books the job, never sleeps.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01968" y="2441448"/>
            <a:ext cx="640080" cy="640080"/>
          </a:xfrm>
          <a:prstGeom prst="ellipse">
            <a:avLst/>
          </a:prstGeom>
          <a:solidFill>
            <a:srgbClr val="9D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786" y="258226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44144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Website + Chatbot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406640" y="2898648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converting site with an on-page agent that captures the lead.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407408"/>
            <a:ext cx="640080" cy="640080"/>
          </a:xfrm>
          <a:prstGeom prst="ellipse">
            <a:avLst/>
          </a:prstGeom>
          <a:solidFill>
            <a:srgbClr val="FFCF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454822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Visibility &amp; SEO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737360" y="4864608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on Google and in AI search, so the phone actually rings.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1148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01968" y="4407408"/>
            <a:ext cx="640080" cy="640080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786" y="4548226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4074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CRM + Unified Inbox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406640" y="4864608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Calls, texts, and follow-ups in one place — nothing slips.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Carrier-grade voice on Telnyx — </a:t>
            </a:r>
            <a:pPr indent="0" marL="0">
              <a:buNone/>
            </a:pPr>
            <a:r>
              <a:rPr lang="en-US" sz="1300" b="1" dirty="0">
                <a:solidFill>
                  <a:srgbClr val="3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sub-500ms latency, 40+ languages, full-stack reliability.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FULL MENU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 with one leak sealed. Expand across everything.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6446520" cy="1280160"/>
          </a:xfrm>
          <a:prstGeom prst="roundRect">
            <a:avLst>
              <a:gd name="adj" fmla="val 6429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414016"/>
            <a:ext cx="164592" cy="164592"/>
          </a:xfrm>
          <a:prstGeom prst="ellipse">
            <a:avLst/>
          </a:prstGeom>
          <a:solidFill>
            <a:srgbClr val="3CE9FF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2322576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 desk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07008" y="2761488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Receptionist · Chatbot · Comms Hub (Unified Mailbox)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529584"/>
            <a:ext cx="6446520" cy="1280160"/>
          </a:xfrm>
          <a:prstGeom prst="roundRect">
            <a:avLst>
              <a:gd name="adj" fmla="val 6429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32688" y="3840480"/>
            <a:ext cx="164592" cy="164592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3749040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&amp; growth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07008" y="4187952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· Content Generation · AIO · SEO · Social &amp; Ad Management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956048"/>
            <a:ext cx="6446520" cy="1280160"/>
          </a:xfrm>
          <a:prstGeom prst="roundRect">
            <a:avLst>
              <a:gd name="adj" fmla="val 6429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2688" y="5266944"/>
            <a:ext cx="164592" cy="164592"/>
          </a:xfrm>
          <a:prstGeom prst="ellipse">
            <a:avLst/>
          </a:prstGeom>
          <a:solidFill>
            <a:srgbClr val="FFCF8A"/>
          </a:solidFill>
          <a:ln/>
        </p:spPr>
      </p:sp>
      <p:sp>
        <p:nvSpPr>
          <p:cNvPr id="14" name="Text 12"/>
          <p:cNvSpPr/>
          <p:nvPr/>
        </p:nvSpPr>
        <p:spPr>
          <a:xfrm>
            <a:off x="1207008" y="5175504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service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07008" y="5614416"/>
            <a:ext cx="5623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CRM (Attio) · Customer Portal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60920" y="2103120"/>
            <a:ext cx="4187952" cy="3986784"/>
          </a:xfrm>
          <a:prstGeom prst="roundRect">
            <a:avLst>
              <a:gd name="adj" fmla="val 2064"/>
            </a:avLst>
          </a:prstGeom>
          <a:solidFill>
            <a:srgbClr val="121A33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0" y="2395728"/>
            <a:ext cx="640080" cy="640080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1778" y="2536546"/>
            <a:ext cx="358445" cy="35844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458200" y="2432304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Portal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8458200" y="2834640"/>
            <a:ext cx="2907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expansion engine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7726680" y="3337560"/>
            <a:ext cx="34564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&amp; service desk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New-service requests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product adoption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account hub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726680" y="539496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3CFF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is an upsell surface — maximize lifetime value.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comes in Standard / Advanced / Premium — every upgrade is more recurring revenue for you.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UNFAIR ADVANTAGE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 by default — the market everyone else ignores.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3383280"/>
          </a:xfrm>
          <a:prstGeom prst="roundRect">
            <a:avLst>
              <a:gd name="adj" fmla="val 2432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2514600"/>
            <a:ext cx="731520" cy="731520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774" y="2675534"/>
            <a:ext cx="409651" cy="4096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383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English + Spanish, native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8862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translation bolt-on. The receptionist greets, qualifies, and books in the caller's language from the first word.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09360" y="2194560"/>
            <a:ext cx="5239512" cy="3383280"/>
          </a:xfrm>
          <a:prstGeom prst="roundRect">
            <a:avLst>
              <a:gd name="adj" fmla="val 2432"/>
            </a:avLst>
          </a:prstGeom>
          <a:solidFill>
            <a:srgbClr val="121A33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2468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6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it wins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29400" y="297180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voice-AI vendors treat Spanish as an afterthought.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Spanish-speaking SMB and customer base, underserved.</a:t>
            </a:r>
            <a:endParaRPr lang="en-US" sz="14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win clients no English-only competitor can serve.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THE PARTNERSHIP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own the client. We own the rails.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5349240" cy="3749040"/>
          </a:xfrm>
          <a:prstGeom prst="roundRect">
            <a:avLst>
              <a:gd name="adj" fmla="val 219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487168"/>
            <a:ext cx="603504" cy="603504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891" y="2619939"/>
            <a:ext cx="337962" cy="337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5420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05840" y="3291840"/>
            <a:ext cx="4617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relationship and your brand on everything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leads and CRM data — exportable, always theirs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retail price you set, and the margin you keep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09360" y="2194560"/>
            <a:ext cx="5239512" cy="3749040"/>
          </a:xfrm>
          <a:prstGeom prst="roundRect">
            <a:avLst>
              <a:gd name="adj" fmla="val 219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29400" y="2487168"/>
            <a:ext cx="603504" cy="603504"/>
          </a:xfrm>
          <a:prstGeom prst="ellipse">
            <a:avLst/>
          </a:prstGeom>
          <a:solidFill>
            <a:srgbClr val="9D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171" y="2619939"/>
            <a:ext cx="337962" cy="337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542032"/>
            <a:ext cx="4050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75120" y="3291840"/>
            <a:ext cx="450799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platform, fulfillment, and carrier-grade voice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hosting, support — the work behind the scenes</a:t>
            </a:r>
            <a:endParaRPr lang="en-US" sz="14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aggregate intelligence that makes every agent smarter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KEEP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High-margin recurring revenue, on autopilot.</a:t>
            </a:r>
            <a:endParaRPr lang="en-US" sz="3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8600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2286000"/>
            <a:ext cx="4325112" cy="3657600"/>
          </a:xfrm>
          <a:prstGeom prst="roundRect">
            <a:avLst>
              <a:gd name="adj" fmla="val 2250"/>
            </a:avLst>
          </a:prstGeom>
          <a:solidFill>
            <a:srgbClr val="121A33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43800" y="265176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3CFF9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~$219</a:t>
            </a:r>
            <a:endParaRPr lang="en-US" sz="4600" dirty="0"/>
          </a:p>
          <a:p>
            <a:pPr indent="0" marL="0">
              <a:buNone/>
            </a:pPr>
            <a:r>
              <a:rPr lang="en-US" sz="150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per client, every month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54380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clients ≈ </a:t>
            </a:r>
            <a:pPr indent="0" marL="0">
              <a:buNone/>
            </a:pPr>
            <a:r>
              <a:rPr lang="en-US" sz="1500" b="1" dirty="0">
                <a:solidFill>
                  <a:srgbClr val="3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$21K / mo recurring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43800" y="45720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pay one wholesale rate — base plus pooled minutes. We never touch your client or your markup.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figures — final pricing set with you.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PARTNER 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Access + à la carte products — each in three tiers.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291840" cy="3246120"/>
          </a:xfrm>
          <a:prstGeom prst="roundRect">
            <a:avLst>
              <a:gd name="adj" fmla="val 253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4688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Co-op access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32688" y="2880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client starts here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32688" y="3383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CE9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$39</a:t>
            </a:r>
            <a:pPr indent="0" marL="0">
              <a:buNone/>
            </a:pPr>
            <a:r>
              <a:rPr lang="en-US" sz="12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/client/mo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32688" y="41148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add any products à la carte. Pooled minutes, white-label &amp; SLAs scale by tier.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160520" y="1828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CFF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more features · more recurring  →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60520" y="3246120"/>
            <a:ext cx="2286000" cy="2194560"/>
          </a:xfrm>
          <a:prstGeom prst="roundRect">
            <a:avLst>
              <a:gd name="adj" fmla="val 3750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6552" y="3520440"/>
            <a:ext cx="146304" cy="146304"/>
          </a:xfrm>
          <a:prstGeom prst="ellipse">
            <a:avLst/>
          </a:prstGeom>
          <a:solidFill>
            <a:srgbClr val="3CE9FF"/>
          </a:solidFill>
          <a:ln/>
        </p:spPr>
      </p:sp>
      <p:sp>
        <p:nvSpPr>
          <p:cNvPr id="12" name="Text 10"/>
          <p:cNvSpPr/>
          <p:nvPr/>
        </p:nvSpPr>
        <p:spPr>
          <a:xfrm>
            <a:off x="4636008" y="34290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16552" y="39319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product, ready to sell.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11112" y="2788920"/>
            <a:ext cx="2286000" cy="2651760"/>
          </a:xfrm>
          <a:prstGeom prst="roundRect">
            <a:avLst>
              <a:gd name="adj" fmla="val 3600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67144" y="3063240"/>
            <a:ext cx="146304" cy="146304"/>
          </a:xfrm>
          <a:prstGeom prst="ellipse">
            <a:avLst/>
          </a:prstGeom>
          <a:solidFill>
            <a:srgbClr val="9D6B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2971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67144" y="34747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customization &amp; integrations.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061704" y="2331720"/>
            <a:ext cx="2286000" cy="3108960"/>
          </a:xfrm>
          <a:prstGeom prst="roundRect">
            <a:avLst>
              <a:gd name="adj" fmla="val 3600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17736" y="2606040"/>
            <a:ext cx="146304" cy="146304"/>
          </a:xfrm>
          <a:prstGeom prst="ellipse">
            <a:avLst/>
          </a:prstGeom>
          <a:solidFill>
            <a:srgbClr val="FFCF8A"/>
          </a:solidFill>
          <a:ln/>
        </p:spPr>
      </p:sp>
      <p:sp>
        <p:nvSpPr>
          <p:cNvPr id="20" name="Text 18"/>
          <p:cNvSpPr/>
          <p:nvPr/>
        </p:nvSpPr>
        <p:spPr>
          <a:xfrm>
            <a:off x="9537192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Premium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17736" y="3017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complexity, multi-location, white-glove.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0080" y="5623560"/>
            <a:ext cx="10908792" cy="713232"/>
          </a:xfrm>
          <a:prstGeom prst="roundRect">
            <a:avLst>
              <a:gd name="adj" fmla="val 11538"/>
            </a:avLst>
          </a:prstGeom>
          <a:solidFill>
            <a:srgbClr val="121A33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623560"/>
            <a:ext cx="10177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follows this ladder.  </a:t>
            </a:r>
            <a:pPr indent="0" marL="0"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Wholesale lives in your partner rate card; every deal clears the Deals Desk and your split improves as you grow.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190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26C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Illustrative — final rate card set with you.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DO THE HEAVY LIFTING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Everything you need to sell — and nothing to build.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23160"/>
            <a:ext cx="548640" cy="548640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25438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White-label dashboard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39242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as yours, client-ready out of the box.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52544" y="214884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26864" y="2423160"/>
            <a:ext cx="548640" cy="548640"/>
          </a:xfrm>
          <a:prstGeom prst="ellipse">
            <a:avLst/>
          </a:prstGeom>
          <a:solidFill>
            <a:srgbClr val="9D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565" y="254386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26864" y="306324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Done-for-you fulfillment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26864" y="339242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build, host, and run it. You stay client-facing.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65008" y="2148840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2423160"/>
            <a:ext cx="548640" cy="548640"/>
          </a:xfrm>
          <a:prstGeom prst="ellipse">
            <a:avLst/>
          </a:prstGeom>
          <a:solidFill>
            <a:srgbClr val="FFCF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0029" y="254386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306324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Leads handed to you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339328" y="3392424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shared lead-gen — we feed, you close.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005072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914400" y="4279392"/>
            <a:ext cx="548640" cy="548640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400093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49194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Co-op volume pricing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14400" y="524865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rate drops as the network grows.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352544" y="4005072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626864" y="4279392"/>
            <a:ext cx="548640" cy="548640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565" y="4400093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49194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&amp; training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4626864" y="524865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 and scripts tuned to your verticals.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065008" y="4005072"/>
            <a:ext cx="3456432" cy="1600200"/>
          </a:xfrm>
          <a:prstGeom prst="roundRect">
            <a:avLst>
              <a:gd name="adj" fmla="val 5143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4279392"/>
            <a:ext cx="548640" cy="548640"/>
          </a:xfrm>
          <a:prstGeom prst="ellipse">
            <a:avLst/>
          </a:prstGeom>
          <a:solidFill>
            <a:srgbClr val="9D6B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0029" y="4400093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91947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handled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8339328" y="5248656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10DLC, STIR/SHAKEN, SOC 2-grade rails.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NOW, WHY ORBIT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window is open — and it favors the prepared.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441448"/>
            <a:ext cx="640080" cy="640080"/>
          </a:xfrm>
          <a:prstGeom prst="ellipse">
            <a:avLst/>
          </a:prstGeom>
          <a:solidFill>
            <a:srgbClr val="3CE9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506" y="2582266"/>
            <a:ext cx="358445" cy="3584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4597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Voice-AI cost just collapsed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737360" y="291693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Carrier-grade calls run cents per minute — the margins are finally real.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214884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01968" y="2441448"/>
            <a:ext cx="640080" cy="640080"/>
          </a:xfrm>
          <a:prstGeom prst="ellipse">
            <a:avLst/>
          </a:prstGeom>
          <a:solidFill>
            <a:srgbClr val="9D6B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786" y="2582266"/>
            <a:ext cx="358445" cy="35844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4597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partner, not five vendors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7406640" y="291693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stitching telephony, AI, hosting, and CRM. We've already done it.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32688" y="4407408"/>
            <a:ext cx="640080" cy="640080"/>
          </a:xfrm>
          <a:prstGeom prst="ellipse">
            <a:avLst/>
          </a:prstGeom>
          <a:solidFill>
            <a:srgbClr val="FFCF8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506" y="4548226"/>
            <a:ext cx="358445" cy="35844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256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 + vertical depth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1737360" y="488289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specialized edge generic platforms can't match overnight.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309360" y="4114800"/>
            <a:ext cx="5349240" cy="1691640"/>
          </a:xfrm>
          <a:prstGeom prst="roundRect">
            <a:avLst>
              <a:gd name="adj" fmla="val 4865"/>
            </a:avLst>
          </a:prstGeom>
          <a:solidFill>
            <a:srgbClr val="0C1124"/>
          </a:solidFill>
          <a:ln w="12700">
            <a:solidFill>
              <a:srgbClr val="26305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01968" y="4407408"/>
            <a:ext cx="640080" cy="640080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786" y="4548226"/>
            <a:ext cx="358445" cy="35844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42569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grow, your rate drops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7406640" y="4882896"/>
            <a:ext cx="4069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book on our platform and the economics improve with scale.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6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4572000" cy="4572000"/>
          </a:xfrm>
          <a:prstGeom prst="ellipse">
            <a:avLst/>
          </a:prstGeom>
          <a:solidFill>
            <a:srgbClr val="3CE9FF">
              <a:alpha val="0"/>
            </a:srgbClr>
          </a:solidFill>
          <a:ln w="19050">
            <a:solidFill>
              <a:srgbClr val="3CE9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4297680"/>
            <a:ext cx="2743200" cy="2743200"/>
          </a:xfrm>
          <a:prstGeom prst="ellipse">
            <a:avLst/>
          </a:prstGeom>
          <a:solidFill>
            <a:srgbClr val="9D6BFF">
              <a:alpha val="0"/>
            </a:srgbClr>
          </a:solidFill>
          <a:ln w="19050">
            <a:solidFill>
              <a:srgbClr val="9D6B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01400" y="5120640"/>
            <a:ext cx="256032" cy="256032"/>
          </a:xfrm>
          <a:prstGeom prst="ellipse">
            <a:avLst/>
          </a:prstGeom>
          <a:solidFill>
            <a:srgbClr val="3CE9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E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Founding partner cohort —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EAEE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10 agencies.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571" y="3650651"/>
            <a:ext cx="215067" cy="21506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07008" y="35295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pricing locked in for your first cohort of clients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40080" y="4133088"/>
            <a:ext cx="384048" cy="384048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71" y="4217579"/>
            <a:ext cx="215067" cy="21506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409651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co-build the vertical playbook with you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640080" y="4700016"/>
            <a:ext cx="384048" cy="384048"/>
          </a:xfrm>
          <a:prstGeom prst="ellipse">
            <a:avLst/>
          </a:prstGeom>
          <a:solidFill>
            <a:srgbClr val="3CFF9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1" y="4784507"/>
            <a:ext cx="215067" cy="2150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07008" y="4663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A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clients onboard now; existing book migrates over ~90 days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640080" y="5943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E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seal the leaks.   </a:t>
            </a:r>
            <a:pPr indent="0" marL="0">
              <a:buNone/>
            </a:pPr>
            <a:r>
              <a:rPr lang="en-US" sz="1600" dirty="0">
                <a:solidFill>
                  <a:srgbClr val="97A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partners@orbitaiautomation.com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 AI — Partner Program</dc:title>
  <dc:subject>PptxGenJS Presentation</dc:subject>
  <dc:creator>Orbit AI Automation</dc:creator>
  <cp:lastModifiedBy>Orbit AI Automation</cp:lastModifiedBy>
  <cp:revision>1</cp:revision>
  <dcterms:created xsi:type="dcterms:W3CDTF">2026-06-03T07:55:38Z</dcterms:created>
  <dcterms:modified xsi:type="dcterms:W3CDTF">2026-06-03T07:55:38Z</dcterms:modified>
</cp:coreProperties>
</file>